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energy. Introduce yourself briefly, state the goal: by the end of this session the team will understand multi-model agent design AND leave with a workshop task to build one themselves. Set expectation: 20 min concepts, 15 min live code, 10 min workshop kickoff.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Quickly frame the three blocks and the time-boxes out loud — this anchors the audience and keeps you honest on pacing. Mention the workshop deliverable now so people listen for it during the concept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 pain before the solution. Ask the room: 'who has shipped an agent where every call goes to the same big model?' Use their answer to bridge into why specialization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definition slowly — this is the core mental model for the whole session: nodes are functions, each node picks its own LLM, and they all read/write one shared state object. Point out the three internal models as the concrete example you'll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concept by concept. For State, mention TypedDict in Python. For Nodes, say 'a node is just a function — this is where you swap in different models.' For Edges, foreshadow the conditional edge you'll show in code (risk threshold). For Graph, mention .compile() and StateGraph(...).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this pattern with your hands if presenting in person. Contrast briefly with two other patterns that exist (network/swarm, pipeline) but say you're standardizing on supervisor+conditional-edges for this workshop because it's the easiest to reason about and debug.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useful slide for the team to remember. Say it plainly: bigger model where being wrong is expensive (compliance), cheapest model where the task is mechanical (extraction). Ask the team to name other tasks and which model they'd assign — quick interactive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'data residency' hardest for this audience — since all three models are internally hosted, this is a real compliance win for fintech data,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here — this builds credibility. Multi-model/multi-agent is not free; it adds orchestration and observability burden. Mention LangSmith or equivalent tracing as a prerequisite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with the room: since this is OpenAI-compatible, langchain_openai.ChatOpenAI works directly against internal endpoints just by overriding base_url and api_key — no special SDK needed. This is the detail that makes the code walkthrough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 — pause here, take a breath, this is the halfway point. Set up the scenario verbally: a bank wants to speed up small-business loan pre-screening without sending applicant PII to an external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Call out explicitly: the dashed branch is a conditional edge keyed off state['risk_score'] — this is exactly what you'll extend in the workshop by adding a fifth node for fraud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your on-screen timer during the live-code section — glance at it to stay on pace. Switch to the IDE/terminal now and follow these five steps against multi_model_fintech_agent.py.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workshop_starter.py now (or link it in chat). Walk through the TODO markers quickly so nobody starts confused. Set a clear submission channel and deadline. Mention the bonus explicitly as optional — don't let it block completion.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slowly, they're your closing summary. If time is short, this slide plus the thank-you slide can absorb a compressed 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Keep the reference file names on screen so people can note them down. Remind the room of the workshop deadline one more time before they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E9F7F0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206240"/>
            <a:ext cx="4206240" cy="4206240"/>
          </a:xfrm>
          <a:prstGeom prst="ellipse">
            <a:avLst/>
          </a:prstGeom>
          <a:solidFill>
            <a:srgbClr val="E9F7F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94360"/>
            <a:ext cx="658368" cy="658368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5" name="Image 0" descr="icon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668" y="679948"/>
            <a:ext cx="487192" cy="4871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TRAINING · 45 MIN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82880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Multi-Model Agents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LangGraph &amp; LangChain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specialized agent pipelines across GPT-OSS, Qwen &amp; Mistral — hosted internally, wired together with LangGraph.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4892040"/>
            <a:ext cx="2926080" cy="0"/>
          </a:xfrm>
          <a:prstGeom prst="line">
            <a:avLst/>
          </a:prstGeom>
          <a:noFill/>
          <a:ln w="19050">
            <a:solidFill>
              <a:srgbClr val="2E8B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074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Case Study:  Loan Underwriting Copilot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172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Concepts (20m)   ·   Part 2: Code Walkthrough (15m)   ·   Workshop (10m)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48640" cy="54864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3" name="Image 0" descr="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" y="619963"/>
            <a:ext cx="405994" cy="4059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17320" y="5669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Roadmap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68680" y="17647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FE3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737360" y="1984248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8" name="Image 1" descr="icon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570" y="2067458"/>
            <a:ext cx="473659" cy="47365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651760" y="17830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(20 min)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2651760" y="222199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multi-model agents are, LangGraph primitives, architecture patterns, when (not) to use them, and how our internal LLM gateway fits in.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32004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68680" y="33649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FE3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3" name="Shape 9"/>
          <p:cNvSpPr/>
          <p:nvPr/>
        </p:nvSpPr>
        <p:spPr>
          <a:xfrm>
            <a:off x="1737360" y="3584448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14" name="Image 2" descr="icon_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570" y="3667658"/>
            <a:ext cx="473659" cy="47365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651760" y="33832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Walkthrough (15 min)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82219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build of a 4-agent loan underwriting pipeline spanning GPT-OSS, Qwen &amp; Mistral over HTTP.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48006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868680" y="496519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FE3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737360" y="5184648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20" name="Image 3" descr="icon_tool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0570" y="5267858"/>
            <a:ext cx="473659" cy="47365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651760" y="498348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Kickoff (10 min)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2651760" y="542239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extend the pipeline with a Fraud Detection agent and a conditional branch — due as workshop completion.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a Single-Model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large model handling every step is simple to start — and expensive, slow, and hard to audit at scale.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937760" cy="4206240"/>
          </a:xfrm>
          <a:prstGeom prst="roundRect">
            <a:avLst>
              <a:gd name="adj" fmla="val 2609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0360" y="2148840"/>
            <a:ext cx="685800" cy="68580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6" name="Image 0" descr="icon_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9514" y="2237994"/>
            <a:ext cx="507492" cy="5074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29260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Big 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Everything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005840" y="3703320"/>
            <a:ext cx="4389120" cy="457200"/>
          </a:xfrm>
          <a:prstGeom prst="roundRect">
            <a:avLst>
              <a:gd name="adj" fmla="val 12000"/>
            </a:avLst>
          </a:prstGeom>
          <a:solidFill>
            <a:srgbClr val="1FAE7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3749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application fields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05840" y="4270248"/>
            <a:ext cx="4389120" cy="457200"/>
          </a:xfrm>
          <a:prstGeom prst="roundRect">
            <a:avLst>
              <a:gd name="adj" fmla="val 12000"/>
            </a:avLst>
          </a:prstGeom>
          <a:solidFill>
            <a:srgbClr val="1FAE7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8872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credit risk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4837176"/>
            <a:ext cx="4389120" cy="457200"/>
          </a:xfrm>
          <a:prstGeom prst="roundRect">
            <a:avLst>
              <a:gd name="adj" fmla="val 12000"/>
            </a:avLst>
          </a:prstGeom>
          <a:solidFill>
            <a:srgbClr val="1FAE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4882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regulatory policy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5404104"/>
            <a:ext cx="4389120" cy="457200"/>
          </a:xfrm>
          <a:prstGeom prst="roundRect">
            <a:avLst>
              <a:gd name="adj" fmla="val 12000"/>
            </a:avLst>
          </a:prstGeom>
          <a:solidFill>
            <a:srgbClr val="1FAE7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88720" y="54498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final decision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80760" y="1828800"/>
            <a:ext cx="502920" cy="50292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17" name="Image 1" descr="icon_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140" y="1894180"/>
            <a:ext cx="372161" cy="37216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766560" y="18013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Overpaying for simple work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766560" y="21214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extraction shouldn't need a frontier-scale reasoning model.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080760" y="3154680"/>
            <a:ext cx="502920" cy="50292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21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140" y="3220060"/>
            <a:ext cx="372161" cy="372161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766560" y="31272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stacks up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766560" y="3447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waits on the same heavyweight model, even trivial ones.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080760" y="4480560"/>
            <a:ext cx="502920" cy="50292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25" name="Image 3" descr="icon_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6140" y="4545940"/>
            <a:ext cx="372161" cy="37216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766560" y="44531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separation of concerns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766560" y="47731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trying to reason, comply, and decide is hard to audit or debug.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Multi-Model Agent?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9F7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1704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directed graph of specialist agents — each backed by the LLM best suited to its step — coordinated through one shared state and an explicit control flow.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1FAE7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74520" y="2395728"/>
            <a:ext cx="731520" cy="73152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7" name="Image 0" descr="icon_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9618" y="2490826"/>
            <a:ext cx="541325" cy="5413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Mistral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· low-cost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23360" y="2194560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00915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74920" y="2395728"/>
            <a:ext cx="731520" cy="73152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12" name="Image 1" descr="icon_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018" y="2490826"/>
            <a:ext cx="541325" cy="54132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reasoning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3760" y="2194560"/>
            <a:ext cx="2834640" cy="1828800"/>
          </a:xfrm>
          <a:prstGeom prst="roundRect">
            <a:avLst>
              <a:gd name="adj" fmla="val 5000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2395728"/>
            <a:ext cx="731520" cy="73152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17" name="Image 2" descr="icon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18" y="2490826"/>
            <a:ext cx="541325" cy="54132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GPT-OSS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judgment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22960" y="4343400"/>
            <a:ext cx="8778240" cy="822960"/>
          </a:xfrm>
          <a:prstGeom prst="roundRect">
            <a:avLst>
              <a:gd name="adj" fmla="val 8889"/>
            </a:avLst>
          </a:prstGeom>
          <a:solidFill>
            <a:srgbClr val="F3FAF6"/>
          </a:solidFill>
          <a:ln w="12700">
            <a:solidFill>
              <a:srgbClr val="BFE3D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005840" y="43434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 ·  { application, risk_score, compliance_result, decision }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2240280" y="4041648"/>
            <a:ext cx="0" cy="301752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5440680" y="4041648"/>
            <a:ext cx="0" cy="301752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8641080" y="4041648"/>
            <a:ext cx="0" cy="301752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966960" y="4434840"/>
            <a:ext cx="640080" cy="64008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26" name="Image 3" descr="icon_rou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170" y="4518050"/>
            <a:ext cx="473659" cy="47365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92640" y="513892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the model is a per-node configuration choice, not a global setting.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 Core Concepts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primitives are all you need to reason about any LangGraph pipeline.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6" name="Image 0" descr="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667" y="2043227"/>
            <a:ext cx="439826" cy="4398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84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typed dict shared across every node — the single source of truth (e.g. TypedDict + reducers).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1965960"/>
            <a:ext cx="594360" cy="59436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11" name="Image 1" descr="icon_gitmer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787" y="2043227"/>
            <a:ext cx="439826" cy="43982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984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functions or agents. Each reads state, does work (often an LLM call), returns updates.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93192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206240"/>
            <a:ext cx="594360" cy="59436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16" name="Image 2" descr="icon_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667" y="4283507"/>
            <a:ext cx="439826" cy="43982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91640" y="4224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914400" y="48920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runs next — fixed edges, or conditional edges that branch on state.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393192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206240"/>
            <a:ext cx="594360" cy="59436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21" name="Image 3" descr="icon_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787" y="4283507"/>
            <a:ext cx="439826" cy="43982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23760" y="4224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446520" y="48920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compiled, runnable pipeline — supports loops, checkpointing, and human-in-the-loop pauses.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Pattern: Supervisor / Router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node decides which specialist runs next, based on the current state — the most common, most debuggable pattern.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349240" y="2103120"/>
            <a:ext cx="914400" cy="91440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5" name="Image 0" descr="icon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8112" y="2221992"/>
            <a:ext cx="676656" cy="6766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43484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14400" y="41605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AE7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14400" y="4160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(Mistral)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806440" y="3429000"/>
            <a:ext cx="-3657600" cy="685800"/>
          </a:xfrm>
          <a:prstGeom prst="line">
            <a:avLst/>
          </a:prstGeom>
          <a:noFill/>
          <a:ln w="22225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434840" y="41605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00915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434840" y="4160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(Qwen)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806440" y="3429000"/>
            <a:ext cx="-137160" cy="685800"/>
          </a:xfrm>
          <a:prstGeom prst="line">
            <a:avLst/>
          </a:prstGeom>
          <a:noFill/>
          <a:ln w="22225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955280" y="41605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955280" y="41605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(GPT-OSS)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806440" y="3429000"/>
            <a:ext cx="3383280" cy="685800"/>
          </a:xfrm>
          <a:prstGeom prst="line">
            <a:avLst/>
          </a:prstGeom>
          <a:noFill/>
          <a:ln w="22225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566160" y="5532120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3FAF6"/>
          </a:solidFill>
          <a:ln w="12700">
            <a:solidFill>
              <a:srgbClr val="BFE3D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0" y="5532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updated state → back to Supervisor → routes next, or END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Model to the Task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“Multi-model” means picking deliberately — not just wiring whatever is available.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63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 In Our Pipeline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3D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low-latency, cheap per 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— structured field extraction from application 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step-by-step reasoning, good at scoring/ranking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analysis — credit risk scoring with rationale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open reasoning model, careful instruction-following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— policy checks &amp; final judgment calls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FFF4DA"/>
          </a:solidFill>
          <a:ln/>
        </p:spPr>
      </p:sp>
      <p:sp>
        <p:nvSpPr>
          <p:cNvPr id="7" name="Shape 3"/>
          <p:cNvSpPr/>
          <p:nvPr/>
        </p:nvSpPr>
        <p:spPr>
          <a:xfrm>
            <a:off x="731520" y="5559552"/>
            <a:ext cx="457200" cy="45720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8" name="Image 0" descr="icon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5618988"/>
            <a:ext cx="338328" cy="33832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4406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send extraction &amp; classification to the cheapest model that stays accurate; reserve the largest model for the step with the highest cost of being wrong.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Multi-Model Agents?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691640"/>
            <a:ext cx="685800" cy="68580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5" name="Image 0" descr="icon_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274" y="1780794"/>
            <a:ext cx="507492" cy="5074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Optimization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29077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routine steps to small/cheap models; reserve large models for judgment calls.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72200" y="137160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92240" y="1691640"/>
            <a:ext cx="685800" cy="68580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10" name="Image 1" descr="icon_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394" y="1780794"/>
            <a:ext cx="507492" cy="50749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2514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Specialization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077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gets the model best tuned for it — higher accuracy than one generalist model.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370332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60120" y="4023360"/>
            <a:ext cx="685800" cy="68580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15" name="Image 2" descr="icon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4112514"/>
            <a:ext cx="507492" cy="50749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60120" y="4846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Resilience &amp; Fallback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52395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internal endpoint is rate-limited or down, retry on another model, not the whole app.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172200" y="370332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3FAF6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92240" y="4023360"/>
            <a:ext cx="685800" cy="68580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20" name="Image 3" descr="icon_ser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394" y="4112514"/>
            <a:ext cx="507492" cy="50749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846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Residency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52395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run inside our network — no application data ever leaves the org.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Reach for This — and When Not 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492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5" name="Image 0" descr="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60" y="1574140"/>
            <a:ext cx="372161" cy="3721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727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Multi-Model Agents When...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has distinct steps needing different skills (extract, reason, judge)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 clear audit trail per step (regulators love this)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cost-sensitive at scale — thousands of runs per day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to upgrade/swap one model without touching the rest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✓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steps could run in parallel to cut latency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1234440"/>
            <a:ext cx="5349240" cy="493776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508760"/>
            <a:ext cx="502920" cy="502920"/>
          </a:xfrm>
          <a:prstGeom prst="ellipse">
            <a:avLst/>
          </a:prstGeom>
          <a:solidFill>
            <a:srgbClr val="B34A2E"/>
          </a:solidFill>
          <a:ln/>
        </p:spPr>
      </p:sp>
      <p:pic>
        <p:nvPicPr>
          <p:cNvPr id="10" name="Image 1" descr="icon_al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060" y="1574140"/>
            <a:ext cx="372161" cy="37216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727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Twice When...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✗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is a single simple call (one prompt, one answer)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✗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no tracing/observability set up yet — debugging multi-hop state gets hard fast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✗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Ultra-low-latency single-turn chat is the whole product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✗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isn't ready to own orchestration logic long-term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Internal LLM Gateway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internal model speaks the same OpenAI-compatible chat-completions schema — only the base URL, model name, and API key change.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731520" cy="73152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5" name="Image 0" descr="icon_gitme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2061058"/>
            <a:ext cx="541325" cy="5413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860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(Python)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463040" y="2331720"/>
            <a:ext cx="1417320" cy="0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150876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+ API key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971800" y="1600200"/>
            <a:ext cx="2926080" cy="1234440"/>
          </a:xfrm>
          <a:prstGeom prst="roundRect">
            <a:avLst>
              <a:gd name="adj" fmla="val 7407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069080" y="1737360"/>
            <a:ext cx="621792" cy="621792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11" name="Image 1" descr="icon_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913" y="1818193"/>
            <a:ext cx="460126" cy="46012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Gateway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/v1/chat/completions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 flipH="1">
            <a:off x="1965960" y="2834640"/>
            <a:ext cx="2468880" cy="822960"/>
          </a:xfrm>
          <a:prstGeom prst="line">
            <a:avLst/>
          </a:prstGeom>
          <a:noFill/>
          <a:ln w="1905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1FAE7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00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434840" y="2834640"/>
            <a:ext cx="1508760" cy="822960"/>
          </a:xfrm>
          <a:prstGeom prst="line">
            <a:avLst/>
          </a:prstGeom>
          <a:noFill/>
          <a:ln w="1905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61772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00915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61772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434840" y="2834640"/>
            <a:ext cx="5486400" cy="822960"/>
          </a:xfrm>
          <a:prstGeom prst="line">
            <a:avLst/>
          </a:prstGeom>
          <a:noFill/>
          <a:ln w="1905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59536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59536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AF6"/>
          </a:solidFill>
          <a:ln w="12700">
            <a:solidFill>
              <a:srgbClr val="D9F0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475488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062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base_url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https://internal-llm-gw/mistral/v1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062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"mistral-large-internal"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062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os.environ["MISTRAL_API_KEY"]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3474720"/>
            <a:ext cx="5486400" cy="5486400"/>
          </a:xfrm>
          <a:prstGeom prst="ellipse">
            <a:avLst/>
          </a:prstGeom>
          <a:solidFill>
            <a:srgbClr val="E9F7F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331720"/>
            <a:ext cx="822960" cy="82296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4" name="Image 0" descr="icon_dol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2438705"/>
            <a:ext cx="608990" cy="6089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CASE STUDY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365760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 Underwriting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4-agent LangGraph pipeline spanning Mistral, Qwen &amp; GPT-OSS — from raw application to an auditable decision.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Architecture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happy path, with a conditional branch to manual review — where the workshop's Fraud Agent will plug in.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423160" cy="1783080"/>
          </a:xfrm>
          <a:prstGeom prst="roundRect">
            <a:avLst>
              <a:gd name="adj" fmla="val 5128"/>
            </a:avLst>
          </a:prstGeom>
          <a:solidFill>
            <a:srgbClr val="1FAE7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0180" y="2057400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6" name="Image 0" descr="icon_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390" y="2140610"/>
            <a:ext cx="473659" cy="47365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7614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971800" y="2761488"/>
            <a:ext cx="320040" cy="0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91840" y="1874520"/>
            <a:ext cx="2423160" cy="1783080"/>
          </a:xfrm>
          <a:prstGeom prst="roundRect">
            <a:avLst>
              <a:gd name="adj" fmla="val 5128"/>
            </a:avLst>
          </a:prstGeom>
          <a:solidFill>
            <a:srgbClr val="00915A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183380" y="2057400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12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590" y="214061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291840" y="27614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291840" y="3246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715000" y="2761488"/>
            <a:ext cx="320040" cy="0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035040" y="1874520"/>
            <a:ext cx="2423160" cy="1783080"/>
          </a:xfrm>
          <a:prstGeom prst="roundRect">
            <a:avLst>
              <a:gd name="adj" fmla="val 5128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926580" y="2057400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18" name="Image 2" descr="icon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9790" y="214061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035040" y="27614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3246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458200" y="2761488"/>
            <a:ext cx="320040" cy="0"/>
          </a:xfrm>
          <a:prstGeom prst="line">
            <a:avLst/>
          </a:prstGeom>
          <a:noFill/>
          <a:ln w="25400">
            <a:solidFill>
              <a:srgbClr val="5A7A6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8778240" y="1874520"/>
            <a:ext cx="2423160" cy="1783080"/>
          </a:xfrm>
          <a:prstGeom prst="roundRect">
            <a:avLst>
              <a:gd name="adj" fmla="val 5128"/>
            </a:avLst>
          </a:prstGeom>
          <a:solidFill>
            <a:srgbClr val="2E8B67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669780" y="2057400"/>
            <a:ext cx="640080" cy="64008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24" name="Image 3" descr="icon_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990" y="214061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778240" y="27614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8778240" y="32461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03420" y="3657600"/>
            <a:ext cx="0" cy="685800"/>
          </a:xfrm>
          <a:prstGeom prst="line">
            <a:avLst/>
          </a:prstGeom>
          <a:noFill/>
          <a:ln w="25400">
            <a:solidFill>
              <a:srgbClr val="B34A2E"/>
            </a:solidFill>
            <a:prstDash val="dash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1828800" y="4389120"/>
            <a:ext cx="4480560" cy="868680"/>
          </a:xfrm>
          <a:prstGeom prst="roundRect">
            <a:avLst>
              <a:gd name="adj" fmla="val 10526"/>
            </a:avLst>
          </a:prstGeom>
          <a:solidFill>
            <a:srgbClr val="FFF0E5"/>
          </a:solidFill>
          <a:ln w="12700">
            <a:solidFill>
              <a:srgbClr val="B34A2E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2011680" y="4526280"/>
            <a:ext cx="548640" cy="548640"/>
          </a:xfrm>
          <a:prstGeom prst="ellipse">
            <a:avLst/>
          </a:prstGeom>
          <a:solidFill>
            <a:srgbClr val="B34A2E"/>
          </a:solidFill>
          <a:ln/>
        </p:spPr>
      </p:sp>
      <p:pic>
        <p:nvPicPr>
          <p:cNvPr id="30" name="Image 4" descr="icon_al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3003" y="4597603"/>
            <a:ext cx="405994" cy="40599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2697480" y="43891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risk_score &gt; 70 →  Manual Review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(workshop: add Fraud Agent here)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548640" y="553212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3FAF6"/>
          </a:solidFill>
          <a:ln w="12700">
            <a:solidFill>
              <a:srgbClr val="D9F0E6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22960" y="55321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 ·  Reject  ·  Manual Review — every branch writes its rationale back into shared state for audit.</a:t>
            </a:r>
            <a:endParaRPr lang="en-US" sz="1250" dirty="0"/>
          </a:p>
        </p:txBody>
      </p:sp>
      <p:sp>
        <p:nvSpPr>
          <p:cNvPr id="34" name="Text 2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35" name="Text 28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Walkthrough — What We'll Build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minutes, five steps — full source is shared with the team afterward.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65376"/>
            <a:ext cx="457200" cy="45720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65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64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848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TypedDict with application, risk_score, compliance_result, decision, trace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104120" y="1874520"/>
            <a:ext cx="1280160" cy="411480"/>
          </a:xfrm>
          <a:prstGeom prst="roundRect">
            <a:avLst>
              <a:gd name="adj" fmla="val 44444"/>
            </a:avLst>
          </a:prstGeom>
          <a:solidFill>
            <a:srgbClr val="E9F7F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104120" y="1874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779776"/>
            <a:ext cx="457200" cy="45720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2679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Internal-LLM HTTP Client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9992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helper that POSTs OpenAI-style chat payloads to any internal base_url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104120" y="2788920"/>
            <a:ext cx="1280160" cy="411480"/>
          </a:xfrm>
          <a:prstGeom prst="roundRect">
            <a:avLst>
              <a:gd name="adj" fmla="val 44444"/>
            </a:avLst>
          </a:prstGeom>
          <a:solidFill>
            <a:srgbClr val="E9F7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104120" y="27889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694176"/>
            <a:ext cx="457200" cy="45720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593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Nodes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9136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intake_node (Mistral) → risk_node (Qwen) → compliance_node (GPT-OSS)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104120" y="3703320"/>
            <a:ext cx="1280160" cy="411480"/>
          </a:xfrm>
          <a:prstGeom prst="roundRect">
            <a:avLst>
              <a:gd name="adj" fmla="val 44444"/>
            </a:avLst>
          </a:prstGeom>
          <a:solidFill>
            <a:srgbClr val="E9F7F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104120" y="37033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43484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4608576"/>
            <a:ext cx="457200" cy="45720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507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StateGraph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48280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add_node / add_edge / add_conditional_edges + compile()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104120" y="4617720"/>
            <a:ext cx="1280160" cy="411480"/>
          </a:xfrm>
          <a:prstGeom prst="roundRect">
            <a:avLst>
              <a:gd name="adj" fmla="val 44444"/>
            </a:avLst>
          </a:prstGeom>
          <a:solidFill>
            <a:srgbClr val="E9F7F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104120" y="4617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522976"/>
            <a:ext cx="457200" cy="45720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522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463040" y="54223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&amp; Trace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1463040" y="57424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on a sample application, print the state after each hop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104120" y="5532120"/>
            <a:ext cx="1280160" cy="411480"/>
          </a:xfrm>
          <a:prstGeom prst="roundRect">
            <a:avLst>
              <a:gd name="adj" fmla="val 44444"/>
            </a:avLst>
          </a:prstGeom>
          <a:solidFill>
            <a:srgbClr val="E9F7F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04120" y="55321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oundRect">
            <a:avLst/>
          </a:prstGeom>
          <a:solidFill>
            <a:srgbClr val="FFB8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11480"/>
            <a:ext cx="731520" cy="731520"/>
          </a:xfrm>
          <a:prstGeom prst="ellipse">
            <a:avLst/>
          </a:prstGeom>
          <a:solidFill>
            <a:srgbClr val="00623D"/>
          </a:solidFill>
          <a:ln/>
        </p:spPr>
      </p:sp>
      <p:pic>
        <p:nvPicPr>
          <p:cNvPr id="4" name="Image 0" descr="icon_tool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506578"/>
            <a:ext cx="541325" cy="5413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A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COMPLETION TASK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74980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Fraud Detection Agent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12848"/>
            <a:ext cx="5486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➤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5th node, fraud_node, backed by a 4th internal model endpoint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➤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 conditional edge: only run it when state['risk_score'] &gt; 70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➤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should flag mismatches (e.g. income vs. transaction history) into state['fraud_flag']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➤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fraud_flag is true, override decision to "HOLD_FOR_INVESTIGATION"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55080" y="1828800"/>
            <a:ext cx="5257800" cy="3063240"/>
          </a:xfrm>
          <a:prstGeom prst="roundRect">
            <a:avLst>
              <a:gd name="adj" fmla="val 2985"/>
            </a:avLst>
          </a:prstGeom>
          <a:solidFill>
            <a:srgbClr val="F3FAF6"/>
          </a:solidFill>
          <a:ln w="12700">
            <a:solidFill>
              <a:srgbClr val="D9F0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59152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☑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node + state field compile without errors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☑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 visibly triggers on a high-risk sample application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☑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+ rationale printed at the end of the run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☑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run compliance &amp; fraud nodes in parallel and merge results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00623D"/>
          </a:solidFill>
          <a:ln/>
          <a:effectLst>
            <a:outerShdw sx="100000" sy="100000" kx="0" ky="0" algn="bl" rotWithShape="0" blurRad="101600" dist="38100" dir="5400000">
              <a:srgbClr val="00623D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file: workshop_starter.py  —  has TODOs marked where your changes go, plus the working reference pipeline for comparison.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48640" cy="54864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3" name="Image 0" descr="icon_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" y="619963"/>
            <a:ext cx="405994" cy="4059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17320" y="5669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85800" y="1600200"/>
            <a:ext cx="411480" cy="41148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544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pick models, not the other way around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920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workflow first, then assign the cheapest capable model to each step.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2697480"/>
            <a:ext cx="411480" cy="41148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651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contract between agents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well-typed shared state is what makes multi-agent systems debuggable and testable.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3794760"/>
            <a:ext cx="411480" cy="41148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" y="3794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749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where the real logic lives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41148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Branching on risk_score, confidence, or a flag is how you keep control explicit, not implicit in a prompt.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892040"/>
            <a:ext cx="411480" cy="411480"/>
          </a:xfrm>
          <a:prstGeom prst="ellipse">
            <a:avLst/>
          </a:prstGeom>
          <a:solidFill>
            <a:srgbClr val="00623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" y="4892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8463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hosting removes the hardest fintech objection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5212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OpenAI-compatible calls, zero data leaving the network — compliance stops being a blocker.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E9F7F0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5029200" cy="5029200"/>
          </a:xfrm>
          <a:prstGeom prst="ellipse">
            <a:avLst/>
          </a:prstGeom>
          <a:solidFill>
            <a:srgbClr val="E9F7F0"/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1280160"/>
            <a:ext cx="914400" cy="914400"/>
          </a:xfrm>
          <a:prstGeom prst="ellipse">
            <a:avLst/>
          </a:prstGeom>
          <a:solidFill>
            <a:srgbClr val="FFB800"/>
          </a:solidFill>
          <a:ln/>
        </p:spPr>
      </p:sp>
      <p:pic>
        <p:nvPicPr>
          <p:cNvPr id="5" name="Image 0" descr="icon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94376" y="1399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774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6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build multi-model agents together.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651760" y="4114800"/>
            <a:ext cx="6858000" cy="1463040"/>
          </a:xfrm>
          <a:prstGeom prst="roundRect">
            <a:avLst>
              <a:gd name="adj" fmla="val 6250"/>
            </a:avLst>
          </a:prstGeom>
          <a:solidFill>
            <a:srgbClr val="F3FA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926080" y="42519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2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code: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multi_model_fintech_agent.py
</a:t>
            </a:r>
            <a:pPr indent="0" marL="0">
              <a:buNone/>
            </a:pPr>
            <a:r>
              <a:rPr lang="en-US" sz="1200" b="1" dirty="0">
                <a:solidFill>
                  <a:srgbClr val="0062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 starter: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workshop_starter.py
</a:t>
            </a:r>
            <a:pPr indent="0" marL="0">
              <a:buNone/>
            </a:pPr>
            <a:r>
              <a:rPr lang="en-US" sz="1200" b="1" dirty="0">
                <a:solidFill>
                  <a:srgbClr val="0062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python.langchain.com/docs/langgraph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Agents with LangGraph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C9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Internal AI Enablement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Technical Architect</dc:creator>
  <cp:lastModifiedBy>Technical Architect</cp:lastModifiedBy>
  <cp:revision>1</cp:revision>
  <dcterms:created xsi:type="dcterms:W3CDTF">2026-09-11T16:10:50Z</dcterms:created>
  <dcterms:modified xsi:type="dcterms:W3CDTF">2026-09-11T16:10:50Z</dcterms:modified>
</cp:coreProperties>
</file>